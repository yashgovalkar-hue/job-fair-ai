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4297680" cy="6803136"/>
          </a:xfrm>
          <a:prstGeom prst="rect">
            <a:avLst/>
          </a:prstGeom>
          <a:solidFill>
            <a:srgbClr val="1D212C"/>
          </a:solidFill>
          <a:ln/>
        </p:spPr>
      </p:sp>
      <p:sp>
        <p:nvSpPr>
          <p:cNvPr id="4" name="Shape 2"/>
          <p:cNvSpPr/>
          <p:nvPr/>
        </p:nvSpPr>
        <p:spPr>
          <a:xfrm>
            <a:off x="4297680" y="54864"/>
            <a:ext cx="0" cy="6803136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pic>
        <p:nvPicPr>
          <p:cNvPr id="5" name="Image 0" descr="/home/claude/pptx_v2/icons/brai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77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00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PROJECT COMPETITION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1901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Edition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5120640"/>
            <a:ext cx="2743200" cy="0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532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Govalkar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Imarticus Learning — Mumbai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00600" y="19659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JobFair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4800600" y="26974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4828032" y="379476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Inflated Skill Requirements in Indian Tech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using SQL, Python &amp; Generative AI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4828032" y="5029200"/>
            <a:ext cx="635508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5029200"/>
            <a:ext cx="6355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28132" y="5029200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8132" y="502920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743700" y="5029200"/>
            <a:ext cx="845820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3700" y="5029200"/>
            <a:ext cx="84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754112" y="5029200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252A38"/>
          </a:solidFill>
          <a:ln w="9525">
            <a:solidFill>
              <a:srgbClr val="2A2E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54112" y="502920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1475720" y="5989320"/>
            <a:ext cx="82296" cy="82296"/>
          </a:xfrm>
          <a:prstGeom prst="ellipse">
            <a:avLst/>
          </a:prstGeom>
          <a:solidFill>
            <a:srgbClr val="D8A9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914400" cy="0"/>
          </a:xfrm>
          <a:prstGeom prst="line">
            <a:avLst/>
          </a:prstGeom>
          <a:noFill/>
          <a:ln w="31750">
            <a:solidFill>
              <a:srgbClr val="D8A9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874520"/>
            <a:ext cx="6309360" cy="1417320"/>
          </a:xfrm>
          <a:prstGeom prst="roundRect">
            <a:avLst>
              <a:gd name="adj" fmla="val 3871"/>
            </a:avLst>
          </a:prstGeom>
          <a:solidFill>
            <a:srgbClr val="14171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“Why does an entry-level posting ask for 5 years of experience?”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64008" cy="1417320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56616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across the Indian tech industry frequently list inflated requirements — demanding years of experience and long skill lists for roles that are, in practice, entry-level.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45262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false rejection anxiety for qualified candidates — especially freshers — while recruiters wade through mismatched applications caused by unclear expectations.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78040" y="1874520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1" name="Image 0" descr="/home/claude/pptx_v2/icons/gra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19456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83880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8388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Self-reject from roles they're genuinely qualified for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78040" y="3447288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5" name="Image 1" descr="/home/claude/pptx_v2/icons/building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6732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183880" y="3648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183880" y="3977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through irrelevant, mismatched applications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178040" y="5020056"/>
            <a:ext cx="45262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9" name="Image 2" descr="/home/claude/pptx_v2/icons/glob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5340096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83880" y="5221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183880" y="555040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inefficiency that costs both sides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from raw postings to a live GenAI advisor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7" name="Image 0" descr="/home/claude/pptx_v2/icons/broom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003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774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724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Structure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~19,600 Naukri postings cleaned in Python — regex-based skill extraction, experience parsing</a:t>
            </a:r>
            <a:endParaRPr lang="en-US" sz="1100" dirty="0"/>
          </a:p>
        </p:txBody>
      </p:sp>
      <p:pic>
        <p:nvPicPr>
          <p:cNvPr id="11" name="Image 1" descr="/home/claude/pptx_v2/icons/arrow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379476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55848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30168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14" name="Image 2" descr="/home/claude/pptx_v2/icons/databas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88" y="24003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30368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3630168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30168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postings &amp; skills tables (one-to-many) enabling real joins &amp; aggregations</a:t>
            </a:r>
            <a:endParaRPr lang="en-US" sz="1100" dirty="0"/>
          </a:p>
        </p:txBody>
      </p:sp>
      <p:pic>
        <p:nvPicPr>
          <p:cNvPr id="18" name="Image 3" descr="/home/claude/pptx_v2/icons/arrow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379476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08776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83096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21" name="Image 4" descr="/home/claude/pptx_v2/icons/search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4003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083296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6483096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6483096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skill demand per seniority band, top skills, worst-offender companies</a:t>
            </a:r>
            <a:endParaRPr lang="en-US" sz="1100" dirty="0"/>
          </a:p>
        </p:txBody>
      </p:sp>
      <p:pic>
        <p:nvPicPr>
          <p:cNvPr id="25" name="Image 5" descr="/home/claude/pptx_v2/icons/arrow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8824" y="379476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061704" y="1965960"/>
            <a:ext cx="2651760" cy="3977640"/>
          </a:xfrm>
          <a:prstGeom prst="roundRect">
            <a:avLst>
              <a:gd name="adj" fmla="val 2759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9336024" y="22402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252A38"/>
          </a:solidFill>
          <a:ln/>
        </p:spPr>
      </p:sp>
      <p:pic>
        <p:nvPicPr>
          <p:cNvPr id="28" name="Image 6" descr="/home/claude/pptx_v2/icons/robot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6044" y="240030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936224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2A2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9336024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Chatbot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9336024" y="370332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A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score computed in Python; Llama 3.1 (via Groq) explains results in plain language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02920" y="6108192"/>
            <a:ext cx="11155680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(pandas, regex)   ·   MySQL   ·   SQL Joins &amp; Aggregations   ·   Groq API (Llama 3.1-8B)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14171F"/>
          </a:solidFill>
          <a:ln/>
        </p:spPr>
      </p:sp>
      <p:pic>
        <p:nvPicPr>
          <p:cNvPr id="5" name="Image 0" descr="/home/claude/pptx_v2/icons/chartlin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6060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28.8%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postings demand more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than typical for their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051560" y="4709160"/>
            <a:ext cx="2423160" cy="0"/>
          </a:xfrm>
          <a:prstGeom prst="line">
            <a:avLst/>
          </a:prstGeom>
          <a:noFill/>
          <a:ln w="12700">
            <a:solidFill>
              <a:srgbClr val="D8A9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377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9CD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“Nearly 1 in 3 postings ask candidates for more than the market actually expects.”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Skills Required — Barely Changes by Seniority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2103120"/>
          <a:ext cx="7223760" cy="1371600"/>
        </p:xfrm>
        <a:graphic>
          <a:graphicData uri="http://schemas.openxmlformats.org/drawingml/2006/table">
            <a:tbl>
              <a:tblPr/>
              <a:tblGrid>
                <a:gridCol w="356616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Seniority 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Skills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Postings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Level (0–2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7,417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Level (3–6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Level (7+ yrs)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297680" y="3611880"/>
            <a:ext cx="7223760" cy="777240"/>
          </a:xfrm>
          <a:prstGeom prst="roundRect">
            <a:avLst>
              <a:gd name="adj" fmla="val 7059"/>
            </a:avLst>
          </a:prstGeom>
          <a:solidFill>
            <a:srgbClr val="FBF2DE"/>
          </a:solidFill>
          <a:ln w="9525">
            <a:solidFill>
              <a:srgbClr val="D8A94A"/>
            </a:solidFill>
            <a:prstDash val="solid"/>
          </a:ln>
        </p:spPr>
      </p:sp>
      <p:pic>
        <p:nvPicPr>
          <p:cNvPr id="13" name="Image 1" descr="/home/claude/pptx_v2/icons/lightbul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37947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367588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i="1" dirty="0">
                <a:solidFill>
                  <a:srgbClr val="4A3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candidates are expected to show almost the same skill breadth as 7+ year veterans — inflation isn't about experience scaling, it's flat expectations across the board.</a:t>
            </a:r>
            <a:endParaRPr lang="en-US" sz="1080" dirty="0"/>
          </a:p>
        </p:txBody>
      </p:sp>
      <p:sp>
        <p:nvSpPr>
          <p:cNvPr id="15" name="Text 10"/>
          <p:cNvSpPr/>
          <p:nvPr/>
        </p:nvSpPr>
        <p:spPr>
          <a:xfrm>
            <a:off x="429768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Offending Companies — Entry-Level Postings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297680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80560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8.33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4480560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Internet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748272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31152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931152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Allegis Group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98864" y="50292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381744" y="5120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8.00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381744" y="5623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GenAI Layer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real SQL data — not the model's guesswork (retrieval before generation)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1D212C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6" name="Image 0" descr="/home/claude/pptx_v2/icons/comment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167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 Chatbot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80560" y="26060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8A94A"/>
          </a:solidFill>
          <a:ln/>
        </p:spPr>
      </p:sp>
      <p:sp>
        <p:nvSpPr>
          <p:cNvPr id="9" name="Text 6"/>
          <p:cNvSpPr/>
          <p:nvPr/>
        </p:nvSpPr>
        <p:spPr>
          <a:xfrm>
            <a:off x="44805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Manager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3246120"/>
            <a:ext cx="5989320" cy="2971800"/>
          </a:xfrm>
          <a:prstGeom prst="roundRect">
            <a:avLst>
              <a:gd name="adj" fmla="val 2462"/>
            </a:avLst>
          </a:prstGeom>
          <a:solidFill>
            <a:srgbClr val="F7F4E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474720"/>
            <a:ext cx="5440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job posting is classified as NOT inflated — its requirements are reasonable for a Data Science Manager role. The employer is asking for the typical skill set expected at this level.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candidate, focus on highlighting relevant project experience and how your skills map directly to the role's core responsibilities.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609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360920" y="2514600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14" name="Text 11"/>
          <p:cNvSpPr/>
          <p:nvPr/>
        </p:nvSpPr>
        <p:spPr>
          <a:xfrm>
            <a:off x="736092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99832" y="2478024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any job title from the dataset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60920" y="3300984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17" name="Text 14"/>
          <p:cNvSpPr/>
          <p:nvPr/>
        </p:nvSpPr>
        <p:spPr>
          <a:xfrm>
            <a:off x="736092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99832" y="326440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retrieves skill count, seniority band &amp; baseline from MySQL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60920" y="4087368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0" name="Text 17"/>
          <p:cNvSpPr/>
          <p:nvPr/>
        </p:nvSpPr>
        <p:spPr>
          <a:xfrm>
            <a:off x="736092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799832" y="405079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the inflation score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60920" y="4873752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3" name="Text 20"/>
          <p:cNvSpPr/>
          <p:nvPr/>
        </p:nvSpPr>
        <p:spPr>
          <a:xfrm>
            <a:off x="7360920" y="4873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799832" y="4837176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(via Groq) explains the result in plain English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7360920" y="5660136"/>
            <a:ext cx="310896" cy="310896"/>
          </a:xfrm>
          <a:prstGeom prst="ellipse">
            <a:avLst/>
          </a:prstGeom>
          <a:solidFill>
            <a:srgbClr val="D8A94A"/>
          </a:solidFill>
          <a:ln/>
        </p:spPr>
      </p:sp>
      <p:sp>
        <p:nvSpPr>
          <p:cNvPr id="26" name="Text 23"/>
          <p:cNvSpPr/>
          <p:nvPr/>
        </p:nvSpPr>
        <p:spPr>
          <a:xfrm>
            <a:off x="7360920" y="5660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799832" y="56235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 ensures the demo never fails live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8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7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&amp; Why It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IMPROVEMENT AREAS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6" name="Image 0" descr="/home/claude/pptx_v2/icons/check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2585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0574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baselines against real hiring outcome data, not just posting text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898648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9" name="Image 1" descr="/home/claude/pptx_v2/icons/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9981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8986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chatbot to compare against live / current market postings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2920" y="3739896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2" name="Image 2" descr="/home/claude/pptx_v2/icons/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4106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739896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as a browser extension for direct use on Naukri / LinkedIn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2920" y="4581144"/>
            <a:ext cx="5577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15" name="Image 3" descr="/home/claude/pptx_v2/icons/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7823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581144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E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skill names (case &amp; synonym matching) for cleaner aggregation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400800" y="1600200"/>
            <a:ext cx="0" cy="457200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7208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MATTERS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72084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an abstract analytics exercise — it addresses a real, shared cost.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720840" y="251460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14171F"/>
          </a:solidFill>
          <a:ln/>
        </p:spPr>
      </p:sp>
      <p:pic>
        <p:nvPicPr>
          <p:cNvPr id="21" name="Image 4" descr="/home/claude/pptx_v2/icons/grad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734056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89520" y="2660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Candidates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7589520" y="299008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false self-rejection from postings that look scarier than the role actually is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720840" y="3840480"/>
            <a:ext cx="4983480" cy="1143000"/>
          </a:xfrm>
          <a:prstGeom prst="roundRect">
            <a:avLst>
              <a:gd name="adj" fmla="val 4800"/>
            </a:avLst>
          </a:prstGeom>
          <a:solidFill>
            <a:srgbClr val="14171F"/>
          </a:solidFill>
          <a:ln/>
        </p:spPr>
      </p:sp>
      <p:pic>
        <p:nvPicPr>
          <p:cNvPr id="25" name="Image 5" descr="/home/claude/pptx_v2/icons/building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059936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589520" y="39867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Recruiters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589520" y="43159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where their own postings may be filtering out good candidates for the wrong reasons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720840" y="5212080"/>
            <a:ext cx="4983480" cy="960120"/>
          </a:xfrm>
          <a:prstGeom prst="roundRect">
            <a:avLst>
              <a:gd name="adj" fmla="val 5714"/>
            </a:avLst>
          </a:prstGeom>
          <a:solidFill>
            <a:srgbClr val="FBF2DE"/>
          </a:solidFill>
          <a:ln w="9525">
            <a:solidFill>
              <a:srgbClr val="D8A94A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949440" y="52852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4A3F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“One in three job postings ask candidates for more than the market actually expects — JobFair AI gives candidates a data-driven way to tell the difference.”</a:t>
            </a:r>
            <a:endParaRPr lang="en-US" sz="115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JOBFAIR AI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8A94A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463040"/>
            <a:ext cx="4114800" cy="4114800"/>
          </a:xfrm>
          <a:prstGeom prst="ellipse">
            <a:avLst/>
          </a:prstGeom>
          <a:solidFill>
            <a:srgbClr val="1D212C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1D212C"/>
          </a:solidFill>
          <a:ln/>
        </p:spPr>
      </p:sp>
      <p:pic>
        <p:nvPicPr>
          <p:cNvPr id="5" name="Image 0" descr="/home/claude/pptx_v2/icons/hear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737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5146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5641848" y="3520440"/>
            <a:ext cx="914400" cy="0"/>
          </a:xfrm>
          <a:prstGeom prst="line">
            <a:avLst/>
          </a:prstGeom>
          <a:noFill/>
          <a:ln w="25400">
            <a:solidFill>
              <a:srgbClr val="D8A9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Govalkar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1937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  ·  Imarticus Learning, Mumbai</a:t>
            </a:r>
            <a:endParaRPr lang="en-US" sz="1150" dirty="0"/>
          </a:p>
        </p:txBody>
      </p:sp>
      <p:pic>
        <p:nvPicPr>
          <p:cNvPr id="11" name="Image 1" descr="/home/claude/pptx_v2/icons/github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5806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  —  Project Repository &amp; Source Code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2026-08-05T04:09:42Z</dcterms:created>
  <dcterms:modified xsi:type="dcterms:W3CDTF">2026-08-05T04:09:42Z</dcterms:modified>
</cp:coreProperties>
</file>